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9F885-1A6D-669E-556A-4A17817F0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18F00-01C4-A748-C70C-A5180C134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59AB1-868A-ACAE-51DC-AF283C53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675E-9DA1-4CF5-90DB-E73CD139EB37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15984-210C-27B4-6930-1234754C0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29409-35E1-2C36-BA55-CDBCD4000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8FB9-FF9B-42DA-A4AE-01837F80A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625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EB562-0D5B-645E-BD64-3702FAD52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2E3E9-D9EB-067E-3519-E2AF14D1C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E3E1B-02C5-56F7-36CB-23CC38B65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675E-9DA1-4CF5-90DB-E73CD139EB37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5D0E5-7F34-2FC8-8FB1-72DE11423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57DFA-C980-4D19-8680-B6ABF2C9D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8FB9-FF9B-42DA-A4AE-01837F80A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306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73E7B-FE57-3780-544C-44C703E29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204DB-3AC3-3238-883D-DEE71711E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28D90-6E0B-9D53-0C2D-4D408557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675E-9DA1-4CF5-90DB-E73CD139EB37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A5F9F-9F65-42D0-914A-90412C770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FA246-2537-9A60-CD94-CDA5A439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8FB9-FF9B-42DA-A4AE-01837F80A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390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540C3-D59A-F619-BFEC-7B585531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A1505-265D-BDB4-D059-6D7B658ED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69DA7-56D4-668A-DF7C-DAFB036C0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7064F-5FF9-529D-A307-B99DABF0F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675E-9DA1-4CF5-90DB-E73CD139EB37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1174D-884A-9B46-AA4E-DD2B435DA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B4DCD-B187-7F2B-4EDE-64BA0EE46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8FB9-FF9B-42DA-A4AE-01837F80A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600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4D000-03C6-43F1-157C-13CDEA7F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04BB4-5DBB-D7D1-35F5-BE84AC4B5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16333-24A8-F187-12ED-B1F6A0EE9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9EC40F-D848-997D-2833-0A6C4A92A9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ED2FA5-E52D-21A7-E573-D11C450052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C1464-5554-4756-01ED-C92A22CE6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675E-9DA1-4CF5-90DB-E73CD139EB37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12F48-5BAD-3F4B-4C58-55A6EDD5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4A60F1-21FC-93A6-B51C-A36426DEC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8FB9-FF9B-42DA-A4AE-01837F80A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04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D4228-9A73-E7A8-F58E-9B2124C9C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EB727F-99B2-51CF-E0F6-DD50CEFA5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675E-9DA1-4CF5-90DB-E73CD139EB37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A50DF2-CE18-6FC0-8EEB-86C41B82D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98E11-4181-D55E-46A6-B019C9013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8FB9-FF9B-42DA-A4AE-01837F80A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173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ECA617-6712-B3F6-4BC1-8B7BBE4B3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675E-9DA1-4CF5-90DB-E73CD139EB37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2A7760-EDC3-014A-F73E-16F7E024A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BE7D2-D0D4-D0A0-635A-2C36ACFD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8FB9-FF9B-42DA-A4AE-01837F80A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191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41306-E611-9C00-6965-8081D221B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C0408-9BEE-DD5D-9E51-F0C3D8E91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07AE1C-DDF7-FC34-0512-9C9F6964A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26C57-561C-BCA6-2C1A-3184C0A48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675E-9DA1-4CF5-90DB-E73CD139EB37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CF45C-D818-DBAA-CF51-5217F475D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80344-D46A-C342-015B-F5AAFCFCB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8FB9-FF9B-42DA-A4AE-01837F80A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37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BBF99-7DE2-C4EC-B5CE-35745CA2C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7F8A1F-D744-FE1C-1F41-36F3BFEBB7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8FDEAD-B61B-9108-F813-B291FCA7D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875BD-A8FB-9649-A1AF-A8AE3A643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675E-9DA1-4CF5-90DB-E73CD139EB37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3F60C-E139-D2EA-DF4A-B9484CF31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6B37-C1C8-3F37-8C2B-F39A1C1B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8FB9-FF9B-42DA-A4AE-01837F80A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44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8B072-C3C3-0FEE-9FE8-FE64D2BEE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F1C8BD-D664-C8D5-0483-1DE82E495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B64A0-FC7E-D0C3-6025-818A9E0ED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675E-9DA1-4CF5-90DB-E73CD139EB37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5FCD0-B99B-71ED-0E2E-3393ECBD3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4B62-166E-CD49-F192-B73DDF2B3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8FB9-FF9B-42DA-A4AE-01837F80A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32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7B8D87-DC23-82B0-81E1-BD8312034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74294-D570-08E6-E736-F3CB5A065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CC793-E725-BA03-48A1-DEE067C12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675E-9DA1-4CF5-90DB-E73CD139EB37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3EA38-E535-FA65-73D9-9C73C42AB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BA47B-CBA7-EEB1-2533-033FD4085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E8FB9-FF9B-42DA-A4AE-01837F80A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69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BBF409-A1DB-9126-62D9-0D32DB4C0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7F93B-8B56-A806-6130-1EB8C013C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6EC1C-9A9C-3241-682A-7029109852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3675E-9DA1-4CF5-90DB-E73CD139EB37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06312-7A0D-AD30-D3A6-8337FEF06B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3D201-4E14-6E68-8C90-3DFB59D40B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E8FB9-FF9B-42DA-A4AE-01837F80A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619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EB8DA-797D-C3BE-7D43-CD3D41ABE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26" y="77207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</a:t>
            </a:r>
          </a:p>
          <a:p>
            <a:pPr marL="0" indent="0">
              <a:buNone/>
            </a:pPr>
            <a:r>
              <a:rPr lang="en-US" dirty="0"/>
              <a:t>                                  </a:t>
            </a:r>
          </a:p>
          <a:p>
            <a:pPr marL="0" indent="0">
              <a:buNone/>
            </a:pPr>
            <a:r>
              <a:rPr lang="en-US" sz="3600" b="1" dirty="0"/>
              <a:t> 			</a:t>
            </a:r>
          </a:p>
          <a:p>
            <a:pPr marL="0" indent="0">
              <a:buNone/>
            </a:pPr>
            <a:r>
              <a:rPr lang="en-US" sz="3600" b="1" dirty="0"/>
              <a:t>			IMPLEMENTATION OF ERP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65496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991F90-860C-8E6B-9A60-A97D22493182}"/>
              </a:ext>
            </a:extLst>
          </p:cNvPr>
          <p:cNvSpPr txBox="1"/>
          <p:nvPr/>
        </p:nvSpPr>
        <p:spPr>
          <a:xfrm>
            <a:off x="1699592" y="856357"/>
            <a:ext cx="839111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Implementation of ERP</a:t>
            </a:r>
          </a:p>
          <a:p>
            <a:pPr algn="just"/>
            <a:r>
              <a:rPr lang="en-US" sz="32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Implementation of ERP System, is a complex exercise, involving many process alterations and</a:t>
            </a:r>
          </a:p>
          <a:p>
            <a:pPr algn="just"/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several legacy issues.</a:t>
            </a:r>
          </a:p>
          <a:p>
            <a:pPr algn="just"/>
            <a:endParaRPr lang="en-IN" sz="3200" b="0" i="0" u="none" strike="noStrike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sz="32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Organizations need an implementation strategy encompassing both pre implementation and</a:t>
            </a:r>
          </a:p>
          <a:p>
            <a:pPr algn="just"/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implementation stages. The fallout of a poor strategy is unpreparedness of employees,</a:t>
            </a:r>
          </a:p>
          <a:p>
            <a:pPr algn="just"/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implementation not in conformity with wider business strategy, poor business process redesign and</a:t>
            </a: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time and cost overrun.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056618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A2C000-1B75-0E36-2834-34E5FDC9B3A8}"/>
              </a:ext>
            </a:extLst>
          </p:cNvPr>
          <p:cNvSpPr txBox="1"/>
          <p:nvPr/>
        </p:nvSpPr>
        <p:spPr>
          <a:xfrm>
            <a:off x="745436" y="868669"/>
            <a:ext cx="111417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Business Process:</a:t>
            </a:r>
          </a:p>
          <a:p>
            <a:pPr marL="457200" indent="-457200" algn="l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An ERP implementation could be a great occasion to assess and optimize existing business processes, control points, breaking points between departments, and interfaces with trading </a:t>
            </a: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partners.</a:t>
            </a:r>
          </a:p>
          <a:p>
            <a:pPr marL="457200" indent="-457200" algn="l">
              <a:buFont typeface="Symbol" panose="05050102010706020507" pitchFamily="18" charset="2"/>
              <a:buChar char="·"/>
            </a:pPr>
            <a:endParaRPr lang="en-IN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l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But, often, due to resistance to changes and departmental clouts,    </a:t>
            </a:r>
          </a:p>
          <a:p>
            <a:pPr algn="l"/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    ERP implementation is comprehended as an exercise to  </a:t>
            </a:r>
          </a:p>
          <a:p>
            <a:pPr algn="l"/>
            <a:r>
              <a:rPr lang="en-US" sz="3200" dirty="0">
                <a:latin typeface="Times New Roman" panose="02020603050405020304" pitchFamily="18" charset="0"/>
              </a:rPr>
              <a:t>    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automate legacy processes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033033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11B5BB-5C2C-C9CB-C5CC-7EDED1139D19}"/>
              </a:ext>
            </a:extLst>
          </p:cNvPr>
          <p:cNvSpPr txBox="1"/>
          <p:nvPr/>
        </p:nvSpPr>
        <p:spPr>
          <a:xfrm>
            <a:off x="2800349" y="1674601"/>
            <a:ext cx="6097656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Implementation Methodology</a:t>
            </a:r>
            <a:endParaRPr lang="en-IN" sz="3200" b="1" dirty="0">
              <a:latin typeface="Times New Roman" panose="02020603050405020304" pitchFamily="18" charset="0"/>
            </a:endParaRPr>
          </a:p>
          <a:p>
            <a:pPr algn="l"/>
            <a:endParaRPr lang="en-IN" sz="3200" b="1" i="0" u="none" strike="noStrike" baseline="0" dirty="0">
              <a:latin typeface="Times New Roman" panose="02020603050405020304" pitchFamily="18" charset="0"/>
            </a:endParaRPr>
          </a:p>
          <a:p>
            <a:pPr algn="l"/>
            <a:r>
              <a:rPr lang="en-IN" sz="3600" b="0" i="0" u="none" strike="noStrike" baseline="0" dirty="0">
                <a:latin typeface="Times New Roman" panose="02020603050405020304" pitchFamily="18" charset="0"/>
              </a:rPr>
              <a:t>1.Big Bang</a:t>
            </a:r>
          </a:p>
          <a:p>
            <a:pPr algn="l"/>
            <a:endParaRPr lang="en-IN" sz="3600" b="0" i="0" u="none" strike="noStrike" baseline="0" dirty="0">
              <a:latin typeface="Times New Roman" panose="02020603050405020304" pitchFamily="18" charset="0"/>
            </a:endParaRPr>
          </a:p>
          <a:p>
            <a:pPr algn="l"/>
            <a:r>
              <a:rPr lang="en-IN" sz="3600" b="0" i="0" u="none" strike="noStrike" baseline="0" dirty="0">
                <a:latin typeface="Times New Roman" panose="02020603050405020304" pitchFamily="18" charset="0"/>
              </a:rPr>
              <a:t>2. Middle-road</a:t>
            </a:r>
          </a:p>
          <a:p>
            <a:pPr algn="l"/>
            <a:endParaRPr lang="en-IN" sz="3600" b="0" i="0" u="none" strike="noStrike" baseline="0" dirty="0">
              <a:latin typeface="Times New Roman" panose="02020603050405020304" pitchFamily="18" charset="0"/>
            </a:endParaRPr>
          </a:p>
          <a:p>
            <a:pPr algn="l"/>
            <a:r>
              <a:rPr lang="en-IN" sz="3600" b="0" i="0" u="none" strike="noStrike" baseline="0" dirty="0">
                <a:latin typeface="Times New Roman" panose="02020603050405020304" pitchFamily="18" charset="0"/>
              </a:rPr>
              <a:t>3. Vanilla</a:t>
            </a:r>
            <a:endParaRPr lang="en-IN" sz="3600" b="1" i="0" u="none" strike="noStrike" baseline="0" dirty="0">
              <a:latin typeface="Times New Roman" panose="02020603050405020304" pitchFamily="18" charset="0"/>
            </a:endParaRP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2878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6BC23E-D2D5-45F9-4896-AB546EACD77A}"/>
              </a:ext>
            </a:extLst>
          </p:cNvPr>
          <p:cNvSpPr txBox="1"/>
          <p:nvPr/>
        </p:nvSpPr>
        <p:spPr>
          <a:xfrm>
            <a:off x="2611506" y="941698"/>
            <a:ext cx="82917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Implementation methodology is depends on several factors</a:t>
            </a:r>
          </a:p>
          <a:p>
            <a:pPr algn="l"/>
            <a:endParaRPr lang="en-US" sz="3200" b="1" i="0" u="none" strike="noStrike" baseline="0" dirty="0">
              <a:latin typeface="Times New Roman" panose="02020603050405020304" pitchFamily="18" charset="0"/>
            </a:endParaRPr>
          </a:p>
          <a:p>
            <a:pPr algn="l"/>
            <a:r>
              <a:rPr lang="en-IN" sz="32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Size</a:t>
            </a:r>
          </a:p>
          <a:p>
            <a:pPr algn="l"/>
            <a:r>
              <a:rPr lang="en-IN" sz="32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Industry</a:t>
            </a:r>
          </a:p>
          <a:p>
            <a:pPr marL="457200" indent="-457200" algn="l">
              <a:buFont typeface="Symbol" panose="05050102010706020507" pitchFamily="18" charset="2"/>
              <a:buChar char="·"/>
            </a:pP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Sales volume</a:t>
            </a:r>
          </a:p>
          <a:p>
            <a:pPr marL="457200" indent="-457200" algn="l">
              <a:buFont typeface="Symbol" panose="05050102010706020507" pitchFamily="18" charset="2"/>
              <a:buChar char="·"/>
            </a:pPr>
            <a:endParaRPr lang="en-IN" sz="3200" b="0" i="0" u="none" strike="noStrike" baseline="0" dirty="0">
              <a:latin typeface="Times New Roman" panose="02020603050405020304" pitchFamily="18" charset="0"/>
            </a:endParaRPr>
          </a:p>
          <a:p>
            <a:pPr algn="l"/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   The Common basic factors of ERP is</a:t>
            </a:r>
          </a:p>
          <a:p>
            <a:pPr algn="l"/>
            <a:r>
              <a:rPr lang="en-IN" sz="32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Physical Scope, BPR, Resource Allocation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626669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A09FEA-95CB-44DD-F659-C7D0BDED5DEC}"/>
              </a:ext>
            </a:extLst>
          </p:cNvPr>
          <p:cNvSpPr txBox="1"/>
          <p:nvPr/>
        </p:nvSpPr>
        <p:spPr>
          <a:xfrm>
            <a:off x="1567897" y="914474"/>
            <a:ext cx="978259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1. BIG BANG APPROACH</a:t>
            </a:r>
          </a:p>
          <a:p>
            <a:pPr algn="just"/>
            <a:r>
              <a:rPr lang="en-US" sz="32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What is the “Big Bang” approach?</a:t>
            </a:r>
          </a:p>
          <a:p>
            <a:pPr algn="just"/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A straightforward ERP Implementation approach. It means all ERP modules, such as financials, manufacturing, and human resources, etc., are implemented in all business units’ at all</a:t>
            </a:r>
            <a:r>
              <a:rPr lang="en-US" sz="3200" dirty="0">
                <a:latin typeface="Times New Roman" panose="02020603050405020304" pitchFamily="18" charset="0"/>
              </a:rPr>
              <a:t>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geographic locations at the same time.</a:t>
            </a:r>
          </a:p>
          <a:p>
            <a:pPr algn="just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It will push the entire organization to use the new system at the same time.</a:t>
            </a:r>
          </a:p>
          <a:p>
            <a:pPr algn="just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The old system will be entirely shut down.</a:t>
            </a:r>
          </a:p>
          <a:p>
            <a:pPr algn="just"/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0746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7E0021-8CFA-8708-51B8-91E0381CC6F5}"/>
              </a:ext>
            </a:extLst>
          </p:cNvPr>
          <p:cNvSpPr txBox="1"/>
          <p:nvPr/>
        </p:nvSpPr>
        <p:spPr>
          <a:xfrm>
            <a:off x="1041953" y="1172818"/>
            <a:ext cx="1010809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Middle Road Approach</a:t>
            </a:r>
          </a:p>
          <a:p>
            <a:pPr algn="just"/>
            <a:endParaRPr lang="en-IN" sz="3200" b="1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Not all ERP modules are implemented</a:t>
            </a:r>
          </a:p>
          <a:p>
            <a:pPr algn="just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Industry specific modules and sub modules can be chosen</a:t>
            </a:r>
          </a:p>
          <a:p>
            <a:pPr algn="just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sz="32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Some legacy systems to remain functional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770198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5E6C06-4197-1648-A419-9608454A5F7E}"/>
              </a:ext>
            </a:extLst>
          </p:cNvPr>
          <p:cNvSpPr txBox="1"/>
          <p:nvPr/>
        </p:nvSpPr>
        <p:spPr>
          <a:xfrm>
            <a:off x="1885949" y="1367785"/>
            <a:ext cx="823208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Vanilla Approach</a:t>
            </a:r>
          </a:p>
          <a:p>
            <a:pPr algn="just"/>
            <a:endParaRPr lang="en-IN" sz="3200" b="1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Only essential modules are chosen</a:t>
            </a:r>
          </a:p>
          <a:p>
            <a:pPr algn="just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Industry specific modules are discouraged</a:t>
            </a:r>
          </a:p>
          <a:p>
            <a:pPr algn="just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algn="just"/>
            <a:r>
              <a:rPr lang="en-IN" sz="32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Minimized risk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946624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EDA5DE-91EB-8279-EB46-DD906FB6BD4A}"/>
              </a:ext>
            </a:extLst>
          </p:cNvPr>
          <p:cNvSpPr txBox="1"/>
          <p:nvPr/>
        </p:nvSpPr>
        <p:spPr>
          <a:xfrm>
            <a:off x="1113183" y="1395229"/>
            <a:ext cx="9640955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 7 common challenges we have noticed companies experience, when ERP is </a:t>
            </a: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implemented.</a:t>
            </a:r>
          </a:p>
          <a:p>
            <a:pPr algn="just"/>
            <a:r>
              <a:rPr lang="en-US" sz="32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</a:rPr>
              <a:t>I</a:t>
            </a: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mplementation is done in stages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.</a:t>
            </a:r>
          </a:p>
          <a:p>
            <a:pPr algn="just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Appropriate training is very essential </a:t>
            </a:r>
          </a:p>
          <a:p>
            <a:pPr algn="just"/>
            <a:endParaRPr lang="en-IN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Lack of proper analysis of requirements</a:t>
            </a:r>
          </a:p>
          <a:p>
            <a:pPr algn="just"/>
            <a:endParaRPr lang="en-IN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Lack of Support from Senior Management</a:t>
            </a:r>
          </a:p>
          <a:p>
            <a:pPr marL="457200" indent="-457200" algn="just">
              <a:buFont typeface="Symbol" panose="05050102010706020507" pitchFamily="18" charset="2"/>
              <a:buChar char="·"/>
            </a:pPr>
            <a:endParaRPr lang="en-IN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Compatibility Issues with ERP Modules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.</a:t>
            </a:r>
          </a:p>
          <a:p>
            <a:pPr algn="just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sz="32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Cost Overheads</a:t>
            </a:r>
            <a:endParaRPr lang="en-US" sz="3200" b="0" i="0" u="none" strike="noStrike" baseline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0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347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4</cp:revision>
  <dcterms:created xsi:type="dcterms:W3CDTF">2025-01-22T13:52:06Z</dcterms:created>
  <dcterms:modified xsi:type="dcterms:W3CDTF">2025-01-22T14:31:11Z</dcterms:modified>
</cp:coreProperties>
</file>