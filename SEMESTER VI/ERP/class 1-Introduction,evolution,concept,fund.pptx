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E95B8-93D6-3B6A-A39C-1C79AA4A0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246186-C74D-0AD0-4856-B8141EAA4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6322F-CB45-36B6-BA35-2A6BF01FA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CB393-E305-AD0C-46ED-D3F48F79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92233-0E70-7CAF-9E8D-B150E9ED6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90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A7A9-38CF-4FE6-15C3-865F5DF0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3B509-A0D5-5C7E-839D-EA2D30D97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41D3A-EBB8-9AB8-BB2C-F07E97670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9ED27-2B68-D91E-9D93-43774B5D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33F75-86DD-0026-D1B5-76751E329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810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62A3-12C5-3780-A294-D2E902AF4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74F74-E836-F6C4-AD98-B5D4BA1E41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CE360-F15E-7218-CF98-7202B6C9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B35C-4F20-EAB0-F90F-5BCDF7533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961B2-1697-8651-200D-FE805639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5702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7B86-7886-2575-9777-20002BEAD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61202-EAEA-C4A1-5340-F420D5B58C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64967F-E8D2-C422-98E4-A4B5DCAF9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91605-C3B0-4026-D2D5-C0C1808B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42FBFC-111A-26A7-C231-225151411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21481-61E8-3487-592B-DE129E938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119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BB1D-0F8A-9369-9868-829CD4482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3EB02-D59B-0BA0-24FB-7866099C4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64EAE-C335-B170-4BE4-122905AE4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DFBE62-B079-022B-C9BF-F7474F8AF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3992B-426D-9322-D702-E2207E07F3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6E8634-75E9-5DF6-E35A-5FB7FDFD8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C42EF3-0B7F-F411-5C6B-B42A3193B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D14084-7CE4-0E57-EFC4-2C0D4F75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6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F21C2-9287-CF28-1972-E13FA60FD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3FB63-9F3F-66F2-F4D6-8EC03ED21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F777D7-E4A0-A560-8DEE-55D22458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8A350-584B-AF7D-014A-96E5AC871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990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8B4A67-8193-D243-F3AC-1943FD940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9ACF5-89C5-285E-9ED8-9B0B7CA2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A201-C719-17BB-A0ED-E5BBEA8FE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93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6FD2D-C398-BF64-3A20-126A072E8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04EED-306D-0B14-CC30-EE3D7769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B014B-AC2F-C1CD-DA08-58BCC036F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1BBF5-6FC1-D30C-4328-9A1703309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8E428-B0B6-6257-DDEC-29127D8ED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270C09-D3D7-A273-ECA9-2BDDF8715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408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EB1A7-D907-1A13-E991-60D93777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2EF846-934C-D496-7BC5-0501A2B126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DCBDBB-1148-6B40-0A45-FAE68AA92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4290E2-253E-79B9-875D-5C99387C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EFF41-9990-CE9C-70BC-DC7AE357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3B9C1-A9F0-B026-B979-AD05F8E1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283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06824-5241-E39B-26AD-7DF5B380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379A61-DDF8-AD31-354E-77074A0347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DDE6-DD8A-5911-1908-809500BE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8463-FDC4-756B-E1A3-61515D60F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28C39D-F46C-75AF-1148-7B500C8B2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694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218AB2-9FEB-6BC6-FDDF-1E6806BCE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D4487-1E1A-B66B-350B-C55276FF5B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C8C721-3D07-5B33-822A-FE2B4FD98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C4C77-00CE-E8C6-A66A-A4073A2A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47D2B-DF7F-3451-E4E0-FA8B3E096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91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29DD10-626B-3153-077F-A7BB1D683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7466F-016E-CBEB-E564-9B2A89820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95F419-EDB0-F87D-616D-F97DA08E8C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67BE9-AD3E-4C71-8A50-2DAB97F3CF97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8F3A1A-A64F-9799-1187-7BC41DCE2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EACC6-46B5-510E-F093-DCC7F9D50B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9D292-86FE-4737-9CB8-EEB273D388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000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882654-5CDE-4502-F611-A8DFD9B49EC5}"/>
              </a:ext>
            </a:extLst>
          </p:cNvPr>
          <p:cNvSpPr txBox="1"/>
          <p:nvPr/>
        </p:nvSpPr>
        <p:spPr>
          <a:xfrm>
            <a:off x="1828800" y="2395331"/>
            <a:ext cx="791154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Enterprise Solution  (CST61)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4278993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65479E-3B7B-6218-EC58-0322CDF8FE1B}"/>
              </a:ext>
            </a:extLst>
          </p:cNvPr>
          <p:cNvSpPr txBox="1"/>
          <p:nvPr/>
        </p:nvSpPr>
        <p:spPr>
          <a:xfrm>
            <a:off x="1013791" y="428178"/>
            <a:ext cx="999876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UNIT-1</a:t>
            </a:r>
          </a:p>
          <a:p>
            <a:pPr algn="l"/>
            <a:endParaRPr lang="en-US" sz="3200" b="1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Introduction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: ERP - Definition – Concept – Fundamentals – Need for ERP - Advantages of ERP –Implementation of ERP – Key issues and Characteristics of ERP Typical architecture components of ERP –ERP system Architecture. </a:t>
            </a:r>
            <a:r>
              <a:rPr lang="en-US" sz="3200" b="1" i="0" u="none" strike="noStrike" baseline="0" dirty="0">
                <a:latin typeface="Times New Roman" panose="02020603050405020304" pitchFamily="18" charset="0"/>
              </a:rPr>
              <a:t>ERP and related technologies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: Business Process RE-engineering – Management Information System– Decision Support System - Executive Support System – On-Line Analytical Processing, Supply Chain Management, Customer Relationship Management.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18162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F44B61-60ED-824F-946E-7699D922D5E1}"/>
              </a:ext>
            </a:extLst>
          </p:cNvPr>
          <p:cNvSpPr txBox="1"/>
          <p:nvPr/>
        </p:nvSpPr>
        <p:spPr>
          <a:xfrm>
            <a:off x="674204" y="1042386"/>
            <a:ext cx="10843591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Define ERP.</a:t>
            </a:r>
          </a:p>
          <a:p>
            <a:pPr algn="l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marL="285750" indent="-28575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Enterprise Resource Planning (ERP) is business management software.</a:t>
            </a:r>
          </a:p>
          <a:p>
            <a:pPr marL="285750" indent="-285750" algn="l">
              <a:buFont typeface="Symbol" panose="05050102010706020507" pitchFamily="18" charset="2"/>
              <a:buChar char="·"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It typically a suite of integrated applications that a company 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can use to    collect, store, manage and interpret data from  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many business activities, including product planning, cost ,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Manufacturing or service delivery, Marketing and sales,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Inventory.</a:t>
            </a: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48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VOLUTION OF ERP&#10;1960s&#10;•Inventory Management and Control&#10;1970s&#10;•Material Requirements Planning&#10;(MRP)&#10;1980s&#10;•Manufacturing Resources Planning (MRP II)&#10;1990s&#10;•Enterprise Resource Planning (ERP)&#10;2000s&#10;•Extended ERP&#10; ">
            <a:extLst>
              <a:ext uri="{FF2B5EF4-FFF2-40B4-BE49-F238E27FC236}">
                <a16:creationId xmlns:a16="http://schemas.microsoft.com/office/drawing/2014/main" id="{E0D3AB2F-1A6E-DBCE-35F7-54B655D93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783" y="-1"/>
            <a:ext cx="7971182" cy="7007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301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IT + BUSINESS PROCESSES&#10;MAINTAIN LEVEL OF STOCK&#10; IDENTIFY REQUIREMENTS &amp; SET TARGETS&#10; PROVIDE REPLENISHMENT TECHNIQUES &amp; OPTIONS&#10; MONITOR ITEM USAGE&#10; RECONCILE BALANCES&#10; REPORT STATUS&#10;EVOLUTION OF ERP&#10;1960s • Inventory Management and Control&#10; ">
            <a:extLst>
              <a:ext uri="{FF2B5EF4-FFF2-40B4-BE49-F238E27FC236}">
                <a16:creationId xmlns:a16="http://schemas.microsoft.com/office/drawing/2014/main" id="{3534D37C-E8FF-BFAF-26B5-EADF9EF38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573" y="705679"/>
            <a:ext cx="6689035" cy="5546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766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SCHEDULING PRODUCTION PROCESSES&#10; OPERATIONS&#10; RAW MATERIAL PURCHASES&#10; PRODUCTION STRUCTURE&#10; INVENTORY LEVELS&#10; LOT SIZING PROCEDURE&#10;EVOLUTION OF ERP&#10;1970s&#10;•Material Requirements Planning&#10;(MRP)&#10; ">
            <a:extLst>
              <a:ext uri="{FF2B5EF4-FFF2-40B4-BE49-F238E27FC236}">
                <a16:creationId xmlns:a16="http://schemas.microsoft.com/office/drawing/2014/main" id="{6BF572C2-B4B0-3C82-2FDC-B44940AFC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251" y="974035"/>
            <a:ext cx="7126357" cy="5883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7365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COORDINATING MANUFACTURING PROCESSES&#10; PRODUCT PLANNING&#10; PARTS PURCHASING&#10; INVENTORY CONTROL&#10; PRODUCT DISTRIBUTION&#10;EVOLUTION OF ERP&#10;1980s&#10;•Manufacturing Resources Planning (MRP II)&#10; ">
            <a:extLst>
              <a:ext uri="{FF2B5EF4-FFF2-40B4-BE49-F238E27FC236}">
                <a16:creationId xmlns:a16="http://schemas.microsoft.com/office/drawing/2014/main" id="{10004E65-C08B-1DEE-E727-D16D8201E8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174" y="745435"/>
            <a:ext cx="6997148" cy="5595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929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MULTI-MODULE APPLICATION SOFTWARE&#10; IMPROVE INTERNAL BUSINESS PROCESSES PERFORMANCE&#10; CROSS FUNCTIONS&#10; INTEGRATED WITH&#10; MARKETING&#10; FINANCE&#10; ACCOUNTING&#10; HUMAN RESOURCES&#10;EVOLUTION OF ERP&#10;1990s&#10;•Enterprise Resource Planning (ERP)&#10; ">
            <a:extLst>
              <a:ext uri="{FF2B5EF4-FFF2-40B4-BE49-F238E27FC236}">
                <a16:creationId xmlns:a16="http://schemas.microsoft.com/office/drawing/2014/main" id="{0EE14E05-F955-3886-54EF-E50AFD599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4051" y="904461"/>
            <a:ext cx="7036905" cy="548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160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BASED ON ERP&#10;CONNECTED TO VALUE CHAIN AND MORE&#10; SUPPLY CHAIN MANAGEMENT&#10; CUSTOMER RELATIONSHIP MANAGEMENT&#10; PRODUCT LIFECYCLE MANAGEMENT&#10; E-COMMERCE&#10;IP BASED INFRASTRUCTURE&#10;EVOLUTION OF ERP&#10;2000s&#10;•Extended ERP&#10; ">
            <a:extLst>
              <a:ext uri="{FF2B5EF4-FFF2-40B4-BE49-F238E27FC236}">
                <a16:creationId xmlns:a16="http://schemas.microsoft.com/office/drawing/2014/main" id="{3BC7DE1E-E29C-DEAA-5FC7-B475786855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5209" y="487017"/>
            <a:ext cx="7991061" cy="602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250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0FA7B4-927F-2D8A-FF91-895C5A16ECB1}"/>
              </a:ext>
            </a:extLst>
          </p:cNvPr>
          <p:cNvSpPr txBox="1"/>
          <p:nvPr/>
        </p:nvSpPr>
        <p:spPr>
          <a:xfrm>
            <a:off x="884583" y="267134"/>
            <a:ext cx="923345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Fundamental Components of ERP</a:t>
            </a:r>
          </a:p>
          <a:p>
            <a:pPr algn="l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following are the fundamental components of the ERP.</a:t>
            </a:r>
          </a:p>
          <a:p>
            <a:pPr marL="514350" indent="-514350" algn="l">
              <a:buAutoNum type="arabicPeriod"/>
            </a:pP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Financial Management</a:t>
            </a:r>
          </a:p>
          <a:p>
            <a:pPr algn="l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2.  </a:t>
            </a:r>
            <a:r>
              <a:rPr lang="en-IN" sz="3200" i="0" u="none" strike="noStrike" baseline="0" dirty="0">
                <a:latin typeface="Times New Roman" panose="02020603050405020304" pitchFamily="18" charset="0"/>
              </a:rPr>
              <a:t>Business Intelligence</a:t>
            </a:r>
          </a:p>
          <a:p>
            <a:pPr algn="l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3. Supply Chain Management</a:t>
            </a:r>
          </a:p>
          <a:p>
            <a:pPr algn="l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4. Human Resource Management</a:t>
            </a:r>
          </a:p>
          <a:p>
            <a:pPr algn="l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5. Manufacturing Operations</a:t>
            </a:r>
          </a:p>
          <a:p>
            <a:pPr algn="l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6. Integration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571678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ED21B6-1593-461C-D376-1C5E5B87E150}"/>
              </a:ext>
            </a:extLst>
          </p:cNvPr>
          <p:cNvSpPr txBox="1"/>
          <p:nvPr/>
        </p:nvSpPr>
        <p:spPr>
          <a:xfrm>
            <a:off x="884583" y="261733"/>
            <a:ext cx="978010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Financial Management:</a:t>
            </a:r>
          </a:p>
          <a:p>
            <a:pPr algn="just"/>
            <a:endParaRPr lang="en-IN" sz="3200" b="1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At the core of ERP are the financial modules, including general ledger, accounts receivable, accounts payable, billing and fixed asset management.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If organization is considering the move to an ERP system to support expansion into global markets,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make sure that multiple currencies and languages are supported, as well as regulatory compliance in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U.S. and in foreign countries.</a:t>
            </a:r>
          </a:p>
          <a:p>
            <a:pPr algn="just"/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95534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FF1CCC-915B-8B04-8483-9209E0900C25}"/>
              </a:ext>
            </a:extLst>
          </p:cNvPr>
          <p:cNvSpPr txBox="1"/>
          <p:nvPr/>
        </p:nvSpPr>
        <p:spPr>
          <a:xfrm>
            <a:off x="495300" y="1538045"/>
            <a:ext cx="112014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Other functionality in the financial management modules will include budgets, cash-flow, expense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and tax reporting.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Symbol" panose="05050102010706020507" pitchFamily="18" charset="2"/>
              </a:rPr>
              <a:t>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The evaluation team should focus on areas that are most important to support the strategic plans for</a:t>
            </a:r>
          </a:p>
          <a:p>
            <a:pPr algn="just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     your organization.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06572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BC9446-10BF-2A06-2613-958405A5BC40}"/>
              </a:ext>
            </a:extLst>
          </p:cNvPr>
          <p:cNvSpPr txBox="1"/>
          <p:nvPr/>
        </p:nvSpPr>
        <p:spPr>
          <a:xfrm>
            <a:off x="1182757" y="339523"/>
            <a:ext cx="9601200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Business Intelligence:</a:t>
            </a: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Business Intelligence (BI) has become a standard component of most ERP packages.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 general, BI tools allow users to share and analyze the  data collected across the enterprise and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  centralized in the ERP database.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BI can come in the form of dashboards, automated 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 reporting and analysis tools used to monitor the</a:t>
            </a:r>
          </a:p>
          <a:p>
            <a:pPr algn="just"/>
            <a:r>
              <a:rPr lang="en-IN" sz="3200" dirty="0">
                <a:latin typeface="Times New Roman" panose="02020603050405020304" pitchFamily="18" charset="0"/>
              </a:rPr>
              <a:t>   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organization business performance.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sz="3200" b="0" i="0" u="none" strike="noStrike" baseline="0" dirty="0">
                <a:latin typeface="Symbol" panose="05050102010706020507" pitchFamily="18" charset="2"/>
              </a:rPr>
              <a:t>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BI supports informed decision making by everyone, 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from executives to line managers and</a:t>
            </a:r>
          </a:p>
          <a:p>
            <a:pPr algn="just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   accountants.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523081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B15E9C-FC9A-D3D5-DD23-32BCF6CFF341}"/>
              </a:ext>
            </a:extLst>
          </p:cNvPr>
          <p:cNvSpPr txBox="1"/>
          <p:nvPr/>
        </p:nvSpPr>
        <p:spPr>
          <a:xfrm>
            <a:off x="904461" y="1659285"/>
            <a:ext cx="1080383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BI can come in the form of dashboards, automated reporting and analysis tools used to monitor the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organization business performance.</a:t>
            </a:r>
          </a:p>
          <a:p>
            <a:pPr algn="just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BI supports informed decision making by everyone, from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executives to line managers and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accountants.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094495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86213B-8AED-DA6B-B0E3-ACAB23B23BFC}"/>
              </a:ext>
            </a:extLst>
          </p:cNvPr>
          <p:cNvSpPr txBox="1"/>
          <p:nvPr/>
        </p:nvSpPr>
        <p:spPr>
          <a:xfrm>
            <a:off x="718930" y="398287"/>
            <a:ext cx="1047584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Supply Chain Management:</a:t>
            </a: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Supply Chain Management (SCM), sometimes referred to as logistics, improves the flow of materials through an organization by managing planning, scheduling, procurement, and fulfillment, to maximize customer satisfaction and profitability.</a:t>
            </a:r>
          </a:p>
          <a:p>
            <a:pPr marL="457200" indent="-457200" algn="just">
              <a:buFont typeface="Symbol" panose="05050102010706020507" pitchFamily="18" charset="2"/>
              <a:buChar char="·"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Sub modules in SCM often include production scheduling, </a:t>
            </a:r>
          </a:p>
          <a:p>
            <a:pPr algn="just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 demand management, distribution management, inventory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management, warehouse management, and procurement and 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</a:rPr>
              <a:t> 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order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management.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906061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E2AEE6-8A79-F290-A701-DBB72F2C8412}"/>
              </a:ext>
            </a:extLst>
          </p:cNvPr>
          <p:cNvSpPr txBox="1"/>
          <p:nvPr/>
        </p:nvSpPr>
        <p:spPr>
          <a:xfrm>
            <a:off x="659296" y="1607619"/>
            <a:ext cx="108734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Any company dealing with products, from manufacturers to distributors, needs to clearly define their SCM requirements to properly evaluate an ERP solution.</a:t>
            </a:r>
          </a:p>
          <a:p>
            <a:pPr algn="l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Symbol" panose="05050102010706020507" pitchFamily="18" charset="2"/>
              </a:rPr>
              <a:t>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It easy for a vendor to focus on their applications strengths and not address the full needs of the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company.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702213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D97557-7518-1BBA-DEA8-C6D4A1F97B40}"/>
              </a:ext>
            </a:extLst>
          </p:cNvPr>
          <p:cNvSpPr txBox="1"/>
          <p:nvPr/>
        </p:nvSpPr>
        <p:spPr>
          <a:xfrm>
            <a:off x="824947" y="546726"/>
            <a:ext cx="1021742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Human Resource Management:</a:t>
            </a: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Human resource management ERP modules should enhance the employee experience – from initial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recruitment to time tracking.</a:t>
            </a:r>
          </a:p>
          <a:p>
            <a:pPr algn="l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 Sub module can include payroll, performance management, time tracking, benefits,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compensation and workforce planning.</a:t>
            </a:r>
          </a:p>
          <a:p>
            <a:pPr algn="l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Self-service tools that allow managers and employees to  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  enter time and attendance, choose benefits and manage </a:t>
            </a:r>
          </a:p>
          <a:p>
            <a:pPr algn="l"/>
            <a:r>
              <a:rPr lang="en-US" sz="3200" dirty="0">
                <a:latin typeface="Times New Roman" panose="02020603050405020304" pitchFamily="18" charset="0"/>
              </a:rPr>
              <a:t> 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PTO are available in many ERP solutions.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53270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5EE3B5-9F4A-0A1E-45C8-B2385D78EF96}"/>
              </a:ext>
            </a:extLst>
          </p:cNvPr>
          <p:cNvSpPr txBox="1"/>
          <p:nvPr/>
        </p:nvSpPr>
        <p:spPr>
          <a:xfrm>
            <a:off x="326335" y="376465"/>
            <a:ext cx="1153933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Manufacturing Operations</a:t>
            </a:r>
          </a:p>
          <a:p>
            <a:pPr algn="just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Manufacturing modules make manufacturing operations more efficient through product configuration, job costing and bill of materials management.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ERP manufacturing modules often include Capacity Requirements Planning, Materials Requirements Planning, forecasting, Master Production Scheduling, work-order management and</a:t>
            </a:r>
          </a:p>
          <a:p>
            <a:pPr algn="l"/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    shop-floor control.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9011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8BBBCA-FAF7-A160-8BBB-56FAFD88C71D}"/>
              </a:ext>
            </a:extLst>
          </p:cNvPr>
          <p:cNvSpPr txBox="1"/>
          <p:nvPr/>
        </p:nvSpPr>
        <p:spPr>
          <a:xfrm>
            <a:off x="129208" y="756097"/>
            <a:ext cx="1112188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i="0" u="none" strike="noStrike" baseline="0" dirty="0">
                <a:latin typeface="Times New Roman" panose="02020603050405020304" pitchFamily="18" charset="0"/>
              </a:rPr>
              <a:t>Integration</a:t>
            </a: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Key to the value of an ERP package is the integration between modules, so that all of the core 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business functions are connected.</a:t>
            </a:r>
          </a:p>
          <a:p>
            <a:pPr algn="l"/>
            <a:endParaRPr lang="en-IN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Information should flow across the organization so that BI reports on organization-wide results.</a:t>
            </a:r>
          </a:p>
          <a:p>
            <a:pPr algn="l"/>
            <a:endParaRPr lang="en-US" sz="3200" b="0" i="0" u="none" strike="noStrike" baseline="0" dirty="0">
              <a:latin typeface="Times New Roman" panose="02020603050405020304" pitchFamily="18" charset="0"/>
            </a:endParaRPr>
          </a:p>
          <a:p>
            <a:pPr marL="457200" indent="-457200" algn="l">
              <a:buFont typeface="Symbol" panose="05050102010706020507" pitchFamily="18" charset="2"/>
              <a:buChar char="·"/>
            </a:pP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ERP can be easier than you imagine – Microsoft Dynamics ERP </a:t>
            </a:r>
          </a:p>
          <a:p>
            <a:pPr algn="l"/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    is cost effective and familiar to your users. If you are thinking </a:t>
            </a:r>
          </a:p>
          <a:p>
            <a:pPr algn="l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about upgrading your systems to a fully integrated ERP system, </a:t>
            </a:r>
          </a:p>
          <a:p>
            <a:pPr algn="l"/>
            <a:r>
              <a:rPr lang="en-US" sz="3200" dirty="0">
                <a:latin typeface="Times New Roman" panose="02020603050405020304" pitchFamily="18" charset="0"/>
              </a:rPr>
              <a:t>    </a:t>
            </a:r>
            <a:r>
              <a:rPr lang="en-US" sz="3200" b="0" i="0" u="none" strike="noStrike" baseline="0" dirty="0">
                <a:latin typeface="Times New Roman" panose="02020603050405020304" pitchFamily="18" charset="0"/>
              </a:rPr>
              <a:t>give </a:t>
            </a:r>
            <a:r>
              <a:rPr lang="en-IN" sz="3200" b="0" i="0" u="none" strike="noStrike" baseline="0" dirty="0">
                <a:latin typeface="Times New Roman" panose="02020603050405020304" pitchFamily="18" charset="0"/>
              </a:rPr>
              <a:t>us a call.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48881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805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732</Words>
  <Application>Microsoft Office PowerPoint</Application>
  <PresentationFormat>Widescreen</PresentationFormat>
  <Paragraphs>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ASUS</dc:creator>
  <cp:lastModifiedBy>ASUS</cp:lastModifiedBy>
  <cp:revision>25</cp:revision>
  <dcterms:created xsi:type="dcterms:W3CDTF">2025-01-20T15:39:13Z</dcterms:created>
  <dcterms:modified xsi:type="dcterms:W3CDTF">2025-01-21T08:47:03Z</dcterms:modified>
</cp:coreProperties>
</file>